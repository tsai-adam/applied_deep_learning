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8288000" cy="10287000"/>
  <p:notesSz cx="6858000" cy="9144000"/>
  <p:embeddedFontLst>
    <p:embeddedFont>
      <p:font typeface="Libre Baskerville" panose="02000000000000000000" pitchFamily="2" charset="0"/>
      <p:regular r:id="rId7"/>
    </p:embeddedFont>
    <p:embeddedFont>
      <p:font typeface="Libre Baskerville Bold" panose="02000000000000000000" pitchFamily="2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1" autoAdjust="0"/>
  </p:normalViewPr>
  <p:slideViewPr>
    <p:cSldViewPr>
      <p:cViewPr varScale="1">
        <p:scale>
          <a:sx n="76" d="100"/>
          <a:sy n="76" d="100"/>
        </p:scale>
        <p:origin x="54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26509" y="4040547"/>
            <a:ext cx="8632791" cy="807720"/>
            <a:chOff x="0" y="0"/>
            <a:chExt cx="2273657" cy="2127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3657" cy="212733"/>
            </a:xfrm>
            <a:custGeom>
              <a:avLst/>
              <a:gdLst/>
              <a:ahLst/>
              <a:cxnLst/>
              <a:rect l="l" t="t" r="r" b="b"/>
              <a:pathLst>
                <a:path w="2273657" h="212733">
                  <a:moveTo>
                    <a:pt x="8968" y="0"/>
                  </a:moveTo>
                  <a:lnTo>
                    <a:pt x="2264689" y="0"/>
                  </a:lnTo>
                  <a:cubicBezTo>
                    <a:pt x="2267067" y="0"/>
                    <a:pt x="2269348" y="945"/>
                    <a:pt x="2271030" y="2627"/>
                  </a:cubicBezTo>
                  <a:cubicBezTo>
                    <a:pt x="2272712" y="4309"/>
                    <a:pt x="2273657" y="6590"/>
                    <a:pt x="2273657" y="8968"/>
                  </a:cubicBezTo>
                  <a:lnTo>
                    <a:pt x="2273657" y="203765"/>
                  </a:lnTo>
                  <a:cubicBezTo>
                    <a:pt x="2273657" y="206143"/>
                    <a:pt x="2272712" y="208424"/>
                    <a:pt x="2271030" y="210106"/>
                  </a:cubicBezTo>
                  <a:cubicBezTo>
                    <a:pt x="2269348" y="211788"/>
                    <a:pt x="2267067" y="212733"/>
                    <a:pt x="2264689" y="212733"/>
                  </a:cubicBezTo>
                  <a:lnTo>
                    <a:pt x="8968" y="212733"/>
                  </a:lnTo>
                  <a:cubicBezTo>
                    <a:pt x="6590" y="212733"/>
                    <a:pt x="4309" y="211788"/>
                    <a:pt x="2627" y="210106"/>
                  </a:cubicBezTo>
                  <a:cubicBezTo>
                    <a:pt x="945" y="208424"/>
                    <a:pt x="0" y="206143"/>
                    <a:pt x="0" y="203765"/>
                  </a:cubicBezTo>
                  <a:lnTo>
                    <a:pt x="0" y="8968"/>
                  </a:lnTo>
                  <a:cubicBezTo>
                    <a:pt x="0" y="6590"/>
                    <a:pt x="945" y="4309"/>
                    <a:pt x="2627" y="2627"/>
                  </a:cubicBezTo>
                  <a:cubicBezTo>
                    <a:pt x="4309" y="945"/>
                    <a:pt x="6590" y="0"/>
                    <a:pt x="89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73657" cy="250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Inconsistent service across cabins.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434660"/>
            <a:ext cx="3008659" cy="970915"/>
            <a:chOff x="0" y="0"/>
            <a:chExt cx="792404" cy="255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2404" cy="255714"/>
            </a:xfrm>
            <a:custGeom>
              <a:avLst/>
              <a:gdLst/>
              <a:ahLst/>
              <a:cxnLst/>
              <a:rect l="l" t="t" r="r" b="b"/>
              <a:pathLst>
                <a:path w="792404" h="25571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40480" y="4002447"/>
            <a:ext cx="3846761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BERTopic modeling on post-COVID reviews → 13 key topics synthesised.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40480" y="1320360"/>
            <a:ext cx="1060704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Executive Summary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40480" y="3316563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Methodology: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26509" y="3316563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Key Findings: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40480" y="7056247"/>
            <a:ext cx="3846761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Analyse customer feedback using topic modeling to identify areas for improvement.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40480" y="6370362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Objective: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635638"/>
            <a:ext cx="1979959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DA68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BAYES BUSINESS SCHOOL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26509" y="5172117"/>
            <a:ext cx="8632791" cy="807720"/>
            <a:chOff x="0" y="0"/>
            <a:chExt cx="2273657" cy="2127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3657" cy="212733"/>
            </a:xfrm>
            <a:custGeom>
              <a:avLst/>
              <a:gdLst/>
              <a:ahLst/>
              <a:cxnLst/>
              <a:rect l="l" t="t" r="r" b="b"/>
              <a:pathLst>
                <a:path w="2273657" h="212733">
                  <a:moveTo>
                    <a:pt x="8968" y="0"/>
                  </a:moveTo>
                  <a:lnTo>
                    <a:pt x="2264689" y="0"/>
                  </a:lnTo>
                  <a:cubicBezTo>
                    <a:pt x="2267067" y="0"/>
                    <a:pt x="2269348" y="945"/>
                    <a:pt x="2271030" y="2627"/>
                  </a:cubicBezTo>
                  <a:cubicBezTo>
                    <a:pt x="2272712" y="4309"/>
                    <a:pt x="2273657" y="6590"/>
                    <a:pt x="2273657" y="8968"/>
                  </a:cubicBezTo>
                  <a:lnTo>
                    <a:pt x="2273657" y="203765"/>
                  </a:lnTo>
                  <a:cubicBezTo>
                    <a:pt x="2273657" y="206143"/>
                    <a:pt x="2272712" y="208424"/>
                    <a:pt x="2271030" y="210106"/>
                  </a:cubicBezTo>
                  <a:cubicBezTo>
                    <a:pt x="2269348" y="211788"/>
                    <a:pt x="2267067" y="212733"/>
                    <a:pt x="2264689" y="212733"/>
                  </a:cubicBezTo>
                  <a:lnTo>
                    <a:pt x="8968" y="212733"/>
                  </a:lnTo>
                  <a:cubicBezTo>
                    <a:pt x="6590" y="212733"/>
                    <a:pt x="4309" y="211788"/>
                    <a:pt x="2627" y="210106"/>
                  </a:cubicBezTo>
                  <a:cubicBezTo>
                    <a:pt x="945" y="208424"/>
                    <a:pt x="0" y="206143"/>
                    <a:pt x="0" y="203765"/>
                  </a:cubicBezTo>
                  <a:lnTo>
                    <a:pt x="0" y="8968"/>
                  </a:lnTo>
                  <a:cubicBezTo>
                    <a:pt x="0" y="6590"/>
                    <a:pt x="945" y="4309"/>
                    <a:pt x="2627" y="2627"/>
                  </a:cubicBezTo>
                  <a:cubicBezTo>
                    <a:pt x="4309" y="945"/>
                    <a:pt x="6590" y="0"/>
                    <a:pt x="89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73657" cy="250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Declining inflight dining satisfaction.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626509" y="6303687"/>
            <a:ext cx="8632791" cy="807720"/>
            <a:chOff x="0" y="0"/>
            <a:chExt cx="2273657" cy="2127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73657" cy="212733"/>
            </a:xfrm>
            <a:custGeom>
              <a:avLst/>
              <a:gdLst/>
              <a:ahLst/>
              <a:cxnLst/>
              <a:rect l="l" t="t" r="r" b="b"/>
              <a:pathLst>
                <a:path w="2273657" h="212733">
                  <a:moveTo>
                    <a:pt x="8968" y="0"/>
                  </a:moveTo>
                  <a:lnTo>
                    <a:pt x="2264689" y="0"/>
                  </a:lnTo>
                  <a:cubicBezTo>
                    <a:pt x="2267067" y="0"/>
                    <a:pt x="2269348" y="945"/>
                    <a:pt x="2271030" y="2627"/>
                  </a:cubicBezTo>
                  <a:cubicBezTo>
                    <a:pt x="2272712" y="4309"/>
                    <a:pt x="2273657" y="6590"/>
                    <a:pt x="2273657" y="8968"/>
                  </a:cubicBezTo>
                  <a:lnTo>
                    <a:pt x="2273657" y="203765"/>
                  </a:lnTo>
                  <a:cubicBezTo>
                    <a:pt x="2273657" y="206143"/>
                    <a:pt x="2272712" y="208424"/>
                    <a:pt x="2271030" y="210106"/>
                  </a:cubicBezTo>
                  <a:cubicBezTo>
                    <a:pt x="2269348" y="211788"/>
                    <a:pt x="2267067" y="212733"/>
                    <a:pt x="2264689" y="212733"/>
                  </a:cubicBezTo>
                  <a:lnTo>
                    <a:pt x="8968" y="212733"/>
                  </a:lnTo>
                  <a:cubicBezTo>
                    <a:pt x="6590" y="212733"/>
                    <a:pt x="4309" y="211788"/>
                    <a:pt x="2627" y="210106"/>
                  </a:cubicBezTo>
                  <a:cubicBezTo>
                    <a:pt x="945" y="208424"/>
                    <a:pt x="0" y="206143"/>
                    <a:pt x="0" y="203765"/>
                  </a:cubicBezTo>
                  <a:lnTo>
                    <a:pt x="0" y="8968"/>
                  </a:lnTo>
                  <a:cubicBezTo>
                    <a:pt x="0" y="6590"/>
                    <a:pt x="945" y="4309"/>
                    <a:pt x="2627" y="2627"/>
                  </a:cubicBezTo>
                  <a:cubicBezTo>
                    <a:pt x="4309" y="945"/>
                    <a:pt x="6590" y="0"/>
                    <a:pt x="89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73657" cy="250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Inefficient customer service and support.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626509" y="7435257"/>
            <a:ext cx="8632791" cy="807720"/>
            <a:chOff x="0" y="0"/>
            <a:chExt cx="2273657" cy="2127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73657" cy="212733"/>
            </a:xfrm>
            <a:custGeom>
              <a:avLst/>
              <a:gdLst/>
              <a:ahLst/>
              <a:cxnLst/>
              <a:rect l="l" t="t" r="r" b="b"/>
              <a:pathLst>
                <a:path w="2273657" h="212733">
                  <a:moveTo>
                    <a:pt x="8968" y="0"/>
                  </a:moveTo>
                  <a:lnTo>
                    <a:pt x="2264689" y="0"/>
                  </a:lnTo>
                  <a:cubicBezTo>
                    <a:pt x="2267067" y="0"/>
                    <a:pt x="2269348" y="945"/>
                    <a:pt x="2271030" y="2627"/>
                  </a:cubicBezTo>
                  <a:cubicBezTo>
                    <a:pt x="2272712" y="4309"/>
                    <a:pt x="2273657" y="6590"/>
                    <a:pt x="2273657" y="8968"/>
                  </a:cubicBezTo>
                  <a:lnTo>
                    <a:pt x="2273657" y="203765"/>
                  </a:lnTo>
                  <a:cubicBezTo>
                    <a:pt x="2273657" y="206143"/>
                    <a:pt x="2272712" y="208424"/>
                    <a:pt x="2271030" y="210106"/>
                  </a:cubicBezTo>
                  <a:cubicBezTo>
                    <a:pt x="2269348" y="211788"/>
                    <a:pt x="2267067" y="212733"/>
                    <a:pt x="2264689" y="212733"/>
                  </a:cubicBezTo>
                  <a:lnTo>
                    <a:pt x="8968" y="212733"/>
                  </a:lnTo>
                  <a:cubicBezTo>
                    <a:pt x="6590" y="212733"/>
                    <a:pt x="4309" y="211788"/>
                    <a:pt x="2627" y="210106"/>
                  </a:cubicBezTo>
                  <a:cubicBezTo>
                    <a:pt x="945" y="208424"/>
                    <a:pt x="0" y="206143"/>
                    <a:pt x="0" y="203765"/>
                  </a:cubicBezTo>
                  <a:lnTo>
                    <a:pt x="0" y="8968"/>
                  </a:lnTo>
                  <a:cubicBezTo>
                    <a:pt x="0" y="6590"/>
                    <a:pt x="945" y="4309"/>
                    <a:pt x="2627" y="2627"/>
                  </a:cubicBezTo>
                  <a:cubicBezTo>
                    <a:pt x="4309" y="945"/>
                    <a:pt x="6590" y="0"/>
                    <a:pt x="89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73657" cy="250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Operational pain points (baggage, ground staff).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626509" y="8566827"/>
            <a:ext cx="8632791" cy="945642"/>
            <a:chOff x="0" y="0"/>
            <a:chExt cx="2273657" cy="2490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73657" cy="249058"/>
            </a:xfrm>
            <a:custGeom>
              <a:avLst/>
              <a:gdLst/>
              <a:ahLst/>
              <a:cxnLst/>
              <a:rect l="l" t="t" r="r" b="b"/>
              <a:pathLst>
                <a:path w="2273657" h="249058">
                  <a:moveTo>
                    <a:pt x="8968" y="0"/>
                  </a:moveTo>
                  <a:lnTo>
                    <a:pt x="2264689" y="0"/>
                  </a:lnTo>
                  <a:cubicBezTo>
                    <a:pt x="2267067" y="0"/>
                    <a:pt x="2269348" y="945"/>
                    <a:pt x="2271030" y="2627"/>
                  </a:cubicBezTo>
                  <a:cubicBezTo>
                    <a:pt x="2272712" y="4309"/>
                    <a:pt x="2273657" y="6590"/>
                    <a:pt x="2273657" y="8968"/>
                  </a:cubicBezTo>
                  <a:lnTo>
                    <a:pt x="2273657" y="240090"/>
                  </a:lnTo>
                  <a:cubicBezTo>
                    <a:pt x="2273657" y="242468"/>
                    <a:pt x="2272712" y="244749"/>
                    <a:pt x="2271030" y="246431"/>
                  </a:cubicBezTo>
                  <a:cubicBezTo>
                    <a:pt x="2269348" y="248113"/>
                    <a:pt x="2267067" y="249058"/>
                    <a:pt x="2264689" y="249058"/>
                  </a:cubicBezTo>
                  <a:lnTo>
                    <a:pt x="8968" y="249058"/>
                  </a:lnTo>
                  <a:cubicBezTo>
                    <a:pt x="6590" y="249058"/>
                    <a:pt x="4309" y="248113"/>
                    <a:pt x="2627" y="246431"/>
                  </a:cubicBezTo>
                  <a:cubicBezTo>
                    <a:pt x="945" y="244749"/>
                    <a:pt x="0" y="242468"/>
                    <a:pt x="0" y="240090"/>
                  </a:cubicBezTo>
                  <a:lnTo>
                    <a:pt x="0" y="8968"/>
                  </a:lnTo>
                  <a:cubicBezTo>
                    <a:pt x="0" y="6590"/>
                    <a:pt x="945" y="4309"/>
                    <a:pt x="2627" y="2627"/>
                  </a:cubicBezTo>
                  <a:cubicBezTo>
                    <a:pt x="4309" y="945"/>
                    <a:pt x="6590" y="0"/>
                    <a:pt x="89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273657" cy="287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Premium passengers expect more from Business Class &amp; lounges.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18680" y="3467489"/>
            <a:ext cx="763288" cy="7632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18680" y="5307974"/>
            <a:ext cx="4411953" cy="332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0 – Smooth boarding &amp; friendly cabin crew.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11 – Satisfied Business Class seat experiences.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18680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40480" y="1348935"/>
            <a:ext cx="12118681" cy="15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Recommendations 1: (Service)</a:t>
            </a: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Ensure Consistent Service Quality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1434660"/>
            <a:ext cx="3008659" cy="970915"/>
            <a:chOff x="0" y="0"/>
            <a:chExt cx="792404" cy="2557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2404" cy="255714"/>
            </a:xfrm>
            <a:custGeom>
              <a:avLst/>
              <a:gdLst/>
              <a:ahLst/>
              <a:cxnLst/>
              <a:rect l="l" t="t" r="r" b="b"/>
              <a:pathLst>
                <a:path w="792404" h="25571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635638"/>
            <a:ext cx="1979959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DA68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BAYES BUSINESS SCHOOL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8680" y="4494497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Positiv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 Feedback: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250914" y="3467489"/>
            <a:ext cx="763288" cy="7632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250914" y="5307974"/>
            <a:ext cx="4336015" cy="458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3 – Mixed reviews on seat comfort and crew attention.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9 – Premium Economy perceived as poor value.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10 – Complaints about inflight service inconsistency.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50914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50914" y="4494497"/>
            <a:ext cx="410043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Negativ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 or Inconsistent: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967930" y="3467489"/>
            <a:ext cx="763288" cy="76328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967930" y="5307974"/>
            <a:ext cx="5648750" cy="374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Standardize service protocols across all cabin classes.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Clearly define Premium Economy offerings (e.g., priority boarding, welcome drinks).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Ensure consistent service experience across aircraft and regions.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967930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67930" y="4494497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ecommendations: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3161" y="3467489"/>
            <a:ext cx="763288" cy="7632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63161" y="5307974"/>
            <a:ext cx="5334642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Diminished food quality and snack variety post-COVID.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Inadequate meal services in Premium Economy and on long-haul flights.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463161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40480" y="1348935"/>
            <a:ext cx="12118681" cy="15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Recommendations 2: (Meal)</a:t>
            </a: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Elevate Inflight Dining &amp; Snacks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1434660"/>
            <a:ext cx="3008659" cy="970915"/>
            <a:chOff x="0" y="0"/>
            <a:chExt cx="792404" cy="2557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2404" cy="255714"/>
            </a:xfrm>
            <a:custGeom>
              <a:avLst/>
              <a:gdLst/>
              <a:ahLst/>
              <a:cxnLst/>
              <a:rect l="l" t="t" r="r" b="b"/>
              <a:pathLst>
                <a:path w="792404" h="25571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635638"/>
            <a:ext cx="1979959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DA68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BAYES BUSINESS SCHOOL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63161" y="4494497"/>
            <a:ext cx="461387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Issu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 (Topics 1, 9, 10):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173181" y="3467489"/>
            <a:ext cx="763288" cy="7632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73181" y="5307974"/>
            <a:ext cx="7258549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Restore full meal services with balanced menus and beverage/snack variety.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Reinstate “Book the Cook” and enhance religious/dietary meal offerings.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Provide warm and substantial snack options, especially on overnight flights.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73181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73181" y="4494497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ecommendations: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18680" y="3467489"/>
            <a:ext cx="763288" cy="7632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18680" y="5307974"/>
            <a:ext cx="6341468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Refund delays, rigid policies, and poor responsiveness.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Frustration with KrisFlyer claims and agent communication.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18680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40480" y="1358460"/>
            <a:ext cx="13159161" cy="134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Recommendations 3: (Refund)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Rethink Customer Service &amp; After-Sales Support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1434660"/>
            <a:ext cx="3008659" cy="970915"/>
            <a:chOff x="0" y="0"/>
            <a:chExt cx="792404" cy="2557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2404" cy="255714"/>
            </a:xfrm>
            <a:custGeom>
              <a:avLst/>
              <a:gdLst/>
              <a:ahLst/>
              <a:cxnLst/>
              <a:rect l="l" t="t" r="r" b="b"/>
              <a:pathLst>
                <a:path w="792404" h="25571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635638"/>
            <a:ext cx="1979959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DA68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BAYES BUSINESS SCHOOL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8680" y="4494497"/>
            <a:ext cx="634146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Recurring Probl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ems (Topics 4, 5, 6, 12):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144000" y="3467489"/>
            <a:ext cx="763288" cy="7632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4000" y="5307974"/>
            <a:ext cx="7258549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Launch omnichannel support with transparent case tracking.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Empower agents to resolve issues without escalations.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Monitor response quality (not just speed) to rebuild trust.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44000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4494497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ecommendations: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18680" y="3467489"/>
            <a:ext cx="763288" cy="7632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18680" y="5307974"/>
            <a:ext cx="4019319" cy="332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2 – Mishandled baggage and lack of updates.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8 – Disorganized ground support during delays.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18680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1434660"/>
            <a:ext cx="3008659" cy="970915"/>
            <a:chOff x="0" y="0"/>
            <a:chExt cx="792404" cy="255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92404" cy="255714"/>
            </a:xfrm>
            <a:custGeom>
              <a:avLst/>
              <a:gdLst/>
              <a:ahLst/>
              <a:cxnLst/>
              <a:rect l="l" t="t" r="r" b="b"/>
              <a:pathLst>
                <a:path w="792404" h="25571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635638"/>
            <a:ext cx="1979959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DA68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BAYES BUSINESS SCHOOL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8680" y="4494497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Ground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Issues: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250914" y="3467489"/>
            <a:ext cx="763288" cy="76328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250914" y="5307974"/>
            <a:ext cx="4336015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7 – Overcrowded SilverKris lounges.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 11 – Outdated Business Class seats on A380.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250914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50914" y="4494497"/>
            <a:ext cx="410043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Premium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Concerns: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967930" y="3467489"/>
            <a:ext cx="763288" cy="76328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967930" y="5307974"/>
            <a:ext cx="5648750" cy="416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Introduce mobile baggage tracking and proactive ground staff support.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Expand lounge capacity and manage flow via reservations or VIP zones.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Refurbish A380 Business Class seats with lie-flat beds and modern layout.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6131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967930" y="3631963"/>
            <a:ext cx="7632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67930" y="4494497"/>
            <a:ext cx="384676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</a:t>
            </a:r>
            <a:r>
              <a:rPr lang="en-US" sz="2400" u="none" strike="noStrik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ecommendations: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40480" y="1358460"/>
            <a:ext cx="14160377" cy="134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Recommendations 4: (Baggage/Lounge)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 b="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Operational Improvements &amp; Premium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Macintosh PowerPoint</Application>
  <PresentationFormat>Custom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Libre Baskerville Bold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SMM768</dc:title>
  <cp:lastModifiedBy>PG-Tsai, Yueh-Lin</cp:lastModifiedBy>
  <cp:revision>2</cp:revision>
  <dcterms:created xsi:type="dcterms:W3CDTF">2006-08-16T00:00:00Z</dcterms:created>
  <dcterms:modified xsi:type="dcterms:W3CDTF">2025-04-15T03:03:15Z</dcterms:modified>
  <dc:identifier>DAGkoRz5uaM</dc:identifier>
</cp:coreProperties>
</file>